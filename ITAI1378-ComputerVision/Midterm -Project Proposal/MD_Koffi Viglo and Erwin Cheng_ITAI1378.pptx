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3A6D6-7A36-656E-1465-F1DCEA8671CE}" v="169" dt="2025-10-30T15:05:03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6B7FC1-1106-4E1A-9021-B849347533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BA51C8-9CE5-4736-B55F-A4EF4631C459}">
      <dgm:prSet/>
      <dgm:spPr/>
      <dgm:t>
        <a:bodyPr/>
        <a:lstStyle/>
        <a:p>
          <a:r>
            <a:rPr lang="en-US"/>
            <a:t>Use YOLOv8 (You Only Look Once) for real-time object detection.</a:t>
          </a:r>
        </a:p>
      </dgm:t>
    </dgm:pt>
    <dgm:pt modelId="{F9390129-F343-4977-88CE-CF917024E60F}" type="parTrans" cxnId="{73C22183-6F83-4C4C-8B26-4854075B05AE}">
      <dgm:prSet/>
      <dgm:spPr/>
      <dgm:t>
        <a:bodyPr/>
        <a:lstStyle/>
        <a:p>
          <a:endParaRPr lang="en-US"/>
        </a:p>
      </dgm:t>
    </dgm:pt>
    <dgm:pt modelId="{025A46B3-FC3E-4780-A14E-25768CA2F89B}" type="sibTrans" cxnId="{73C22183-6F83-4C4C-8B26-4854075B05AE}">
      <dgm:prSet/>
      <dgm:spPr/>
      <dgm:t>
        <a:bodyPr/>
        <a:lstStyle/>
        <a:p>
          <a:endParaRPr lang="en-US"/>
        </a:p>
      </dgm:t>
    </dgm:pt>
    <dgm:pt modelId="{F84A6322-7CF8-40E6-ABA0-72EE22BA3D00}">
      <dgm:prSet/>
      <dgm:spPr/>
      <dgm:t>
        <a:bodyPr/>
        <a:lstStyle/>
        <a:p>
          <a:r>
            <a:rPr lang="en-US"/>
            <a:t>Train the model using helmet detection datasets from Roboflow.</a:t>
          </a:r>
        </a:p>
      </dgm:t>
    </dgm:pt>
    <dgm:pt modelId="{A5E0D5A2-674E-4ADB-B81D-9B2331C8ACB3}" type="parTrans" cxnId="{D39EE0F3-D21D-45B5-BF9F-F3647659D337}">
      <dgm:prSet/>
      <dgm:spPr/>
      <dgm:t>
        <a:bodyPr/>
        <a:lstStyle/>
        <a:p>
          <a:endParaRPr lang="en-US"/>
        </a:p>
      </dgm:t>
    </dgm:pt>
    <dgm:pt modelId="{466466DF-9A5D-4842-8B41-553447CE4794}" type="sibTrans" cxnId="{D39EE0F3-D21D-45B5-BF9F-F3647659D337}">
      <dgm:prSet/>
      <dgm:spPr/>
      <dgm:t>
        <a:bodyPr/>
        <a:lstStyle/>
        <a:p>
          <a:endParaRPr lang="en-US"/>
        </a:p>
      </dgm:t>
    </dgm:pt>
    <dgm:pt modelId="{66BBA653-0E92-4ECF-8290-5431429F8EFE}">
      <dgm:prSet/>
      <dgm:spPr/>
      <dgm:t>
        <a:bodyPr/>
        <a:lstStyle/>
        <a:p>
          <a:r>
            <a:rPr lang="en-US"/>
            <a:t>Run and test the model on Google Colab using Python.</a:t>
          </a:r>
        </a:p>
      </dgm:t>
    </dgm:pt>
    <dgm:pt modelId="{4350F8AE-060F-468D-B5A3-9B1B385242AB}" type="parTrans" cxnId="{BE9DE810-23B0-4631-A86E-1EBB15874A19}">
      <dgm:prSet/>
      <dgm:spPr/>
      <dgm:t>
        <a:bodyPr/>
        <a:lstStyle/>
        <a:p>
          <a:endParaRPr lang="en-US"/>
        </a:p>
      </dgm:t>
    </dgm:pt>
    <dgm:pt modelId="{2A67A98D-CA6B-411B-8952-5EE9AF560071}" type="sibTrans" cxnId="{BE9DE810-23B0-4631-A86E-1EBB15874A19}">
      <dgm:prSet/>
      <dgm:spPr/>
      <dgm:t>
        <a:bodyPr/>
        <a:lstStyle/>
        <a:p>
          <a:endParaRPr lang="en-US"/>
        </a:p>
      </dgm:t>
    </dgm:pt>
    <dgm:pt modelId="{83828785-C906-4452-B784-9EC795433AE8}">
      <dgm:prSet/>
      <dgm:spPr/>
      <dgm:t>
        <a:bodyPr/>
        <a:lstStyle/>
        <a:p>
          <a:r>
            <a:rPr lang="en-US"/>
            <a:t>Evaluate accuracy and detection speed.</a:t>
          </a:r>
        </a:p>
      </dgm:t>
    </dgm:pt>
    <dgm:pt modelId="{46C301ED-0FB9-4A29-B02F-316C7CC5DAF2}" type="parTrans" cxnId="{BD080BCE-22E9-40C0-9C4F-E228273FD6A6}">
      <dgm:prSet/>
      <dgm:spPr/>
      <dgm:t>
        <a:bodyPr/>
        <a:lstStyle/>
        <a:p>
          <a:endParaRPr lang="en-US"/>
        </a:p>
      </dgm:t>
    </dgm:pt>
    <dgm:pt modelId="{6A9DDE00-5FF6-4E1F-BBCE-73B1272C8D85}" type="sibTrans" cxnId="{BD080BCE-22E9-40C0-9C4F-E228273FD6A6}">
      <dgm:prSet/>
      <dgm:spPr/>
      <dgm:t>
        <a:bodyPr/>
        <a:lstStyle/>
        <a:p>
          <a:endParaRPr lang="en-US"/>
        </a:p>
      </dgm:t>
    </dgm:pt>
    <dgm:pt modelId="{B414661D-779E-4C31-AB21-A8E598C9832C}" type="pres">
      <dgm:prSet presAssocID="{C16B7FC1-1106-4E1A-9021-B849347533AB}" presName="root" presStyleCnt="0">
        <dgm:presLayoutVars>
          <dgm:dir/>
          <dgm:resizeHandles val="exact"/>
        </dgm:presLayoutVars>
      </dgm:prSet>
      <dgm:spPr/>
    </dgm:pt>
    <dgm:pt modelId="{D340E6F3-9C7C-4D72-9E49-9AF51E23F9B5}" type="pres">
      <dgm:prSet presAssocID="{BCBA51C8-9CE5-4736-B55F-A4EF4631C459}" presName="compNode" presStyleCnt="0"/>
      <dgm:spPr/>
    </dgm:pt>
    <dgm:pt modelId="{61D2551B-6C9A-4C34-9F8E-128B9FC37125}" type="pres">
      <dgm:prSet presAssocID="{BCBA51C8-9CE5-4736-B55F-A4EF4631C459}" presName="bgRect" presStyleLbl="bgShp" presStyleIdx="0" presStyleCnt="4"/>
      <dgm:spPr/>
    </dgm:pt>
    <dgm:pt modelId="{983C4FD8-91C1-48A6-8CD1-9ABBDAD8C30B}" type="pres">
      <dgm:prSet presAssocID="{BCBA51C8-9CE5-4736-B55F-A4EF4631C45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36262739-5261-4C03-974A-19A888FF1A54}" type="pres">
      <dgm:prSet presAssocID="{BCBA51C8-9CE5-4736-B55F-A4EF4631C459}" presName="spaceRect" presStyleCnt="0"/>
      <dgm:spPr/>
    </dgm:pt>
    <dgm:pt modelId="{B1A31D9B-5B11-4006-B684-D95BC8F597D5}" type="pres">
      <dgm:prSet presAssocID="{BCBA51C8-9CE5-4736-B55F-A4EF4631C459}" presName="parTx" presStyleLbl="revTx" presStyleIdx="0" presStyleCnt="4">
        <dgm:presLayoutVars>
          <dgm:chMax val="0"/>
          <dgm:chPref val="0"/>
        </dgm:presLayoutVars>
      </dgm:prSet>
      <dgm:spPr/>
    </dgm:pt>
    <dgm:pt modelId="{1B8DCC3B-DCF3-48E0-BED3-330AE47B7EBE}" type="pres">
      <dgm:prSet presAssocID="{025A46B3-FC3E-4780-A14E-25768CA2F89B}" presName="sibTrans" presStyleCnt="0"/>
      <dgm:spPr/>
    </dgm:pt>
    <dgm:pt modelId="{32073E4A-2019-4116-83F8-FEA83F7DA9E6}" type="pres">
      <dgm:prSet presAssocID="{F84A6322-7CF8-40E6-ABA0-72EE22BA3D00}" presName="compNode" presStyleCnt="0"/>
      <dgm:spPr/>
    </dgm:pt>
    <dgm:pt modelId="{B59692C2-3F46-4DAA-9B45-A258C4495300}" type="pres">
      <dgm:prSet presAssocID="{F84A6322-7CF8-40E6-ABA0-72EE22BA3D00}" presName="bgRect" presStyleLbl="bgShp" presStyleIdx="1" presStyleCnt="4"/>
      <dgm:spPr/>
    </dgm:pt>
    <dgm:pt modelId="{564FF7E9-04D5-41ED-A3D3-E6F38750B159}" type="pres">
      <dgm:prSet presAssocID="{F84A6322-7CF8-40E6-ABA0-72EE22BA3D0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633B46E0-363E-4A49-9590-E3CF1C9076AA}" type="pres">
      <dgm:prSet presAssocID="{F84A6322-7CF8-40E6-ABA0-72EE22BA3D00}" presName="spaceRect" presStyleCnt="0"/>
      <dgm:spPr/>
    </dgm:pt>
    <dgm:pt modelId="{A224EBDB-0F3E-4C7F-963E-465E556325C4}" type="pres">
      <dgm:prSet presAssocID="{F84A6322-7CF8-40E6-ABA0-72EE22BA3D00}" presName="parTx" presStyleLbl="revTx" presStyleIdx="1" presStyleCnt="4">
        <dgm:presLayoutVars>
          <dgm:chMax val="0"/>
          <dgm:chPref val="0"/>
        </dgm:presLayoutVars>
      </dgm:prSet>
      <dgm:spPr/>
    </dgm:pt>
    <dgm:pt modelId="{A9AFCAB5-CFEC-40ED-91DD-F42304E39FF2}" type="pres">
      <dgm:prSet presAssocID="{466466DF-9A5D-4842-8B41-553447CE4794}" presName="sibTrans" presStyleCnt="0"/>
      <dgm:spPr/>
    </dgm:pt>
    <dgm:pt modelId="{01B9E25C-BE85-49A0-BBE7-FE4A6239D28A}" type="pres">
      <dgm:prSet presAssocID="{66BBA653-0E92-4ECF-8290-5431429F8EFE}" presName="compNode" presStyleCnt="0"/>
      <dgm:spPr/>
    </dgm:pt>
    <dgm:pt modelId="{74EDFD06-4C20-470D-ACD6-DD295C1C6354}" type="pres">
      <dgm:prSet presAssocID="{66BBA653-0E92-4ECF-8290-5431429F8EFE}" presName="bgRect" presStyleLbl="bgShp" presStyleIdx="2" presStyleCnt="4"/>
      <dgm:spPr/>
    </dgm:pt>
    <dgm:pt modelId="{3B7523D4-9604-4A18-9D9C-C1077675B7C9}" type="pres">
      <dgm:prSet presAssocID="{66BBA653-0E92-4ECF-8290-5431429F8E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B0B21E7-B319-4E56-96CC-08B46269C7F4}" type="pres">
      <dgm:prSet presAssocID="{66BBA653-0E92-4ECF-8290-5431429F8EFE}" presName="spaceRect" presStyleCnt="0"/>
      <dgm:spPr/>
    </dgm:pt>
    <dgm:pt modelId="{19FF0B22-1132-474B-96D8-55B59A6A5347}" type="pres">
      <dgm:prSet presAssocID="{66BBA653-0E92-4ECF-8290-5431429F8EFE}" presName="parTx" presStyleLbl="revTx" presStyleIdx="2" presStyleCnt="4">
        <dgm:presLayoutVars>
          <dgm:chMax val="0"/>
          <dgm:chPref val="0"/>
        </dgm:presLayoutVars>
      </dgm:prSet>
      <dgm:spPr/>
    </dgm:pt>
    <dgm:pt modelId="{27E43D3A-1911-4319-A431-74D6F6E4A7A4}" type="pres">
      <dgm:prSet presAssocID="{2A67A98D-CA6B-411B-8952-5EE9AF560071}" presName="sibTrans" presStyleCnt="0"/>
      <dgm:spPr/>
    </dgm:pt>
    <dgm:pt modelId="{78D2D39A-F089-4279-886A-6E5334E991E5}" type="pres">
      <dgm:prSet presAssocID="{83828785-C906-4452-B784-9EC795433AE8}" presName="compNode" presStyleCnt="0"/>
      <dgm:spPr/>
    </dgm:pt>
    <dgm:pt modelId="{855F106D-07B2-4D11-A215-E5FA7857C12F}" type="pres">
      <dgm:prSet presAssocID="{83828785-C906-4452-B784-9EC795433AE8}" presName="bgRect" presStyleLbl="bgShp" presStyleIdx="3" presStyleCnt="4"/>
      <dgm:spPr/>
    </dgm:pt>
    <dgm:pt modelId="{44597E84-06A9-44F2-9197-CC042000A124}" type="pres">
      <dgm:prSet presAssocID="{83828785-C906-4452-B784-9EC795433AE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B733DF5-908C-453F-9343-FAF2FA72F08C}" type="pres">
      <dgm:prSet presAssocID="{83828785-C906-4452-B784-9EC795433AE8}" presName="spaceRect" presStyleCnt="0"/>
      <dgm:spPr/>
    </dgm:pt>
    <dgm:pt modelId="{887D078F-84DE-4C58-9B6F-E622B978E11D}" type="pres">
      <dgm:prSet presAssocID="{83828785-C906-4452-B784-9EC795433AE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E9DE810-23B0-4631-A86E-1EBB15874A19}" srcId="{C16B7FC1-1106-4E1A-9021-B849347533AB}" destId="{66BBA653-0E92-4ECF-8290-5431429F8EFE}" srcOrd="2" destOrd="0" parTransId="{4350F8AE-060F-468D-B5A3-9B1B385242AB}" sibTransId="{2A67A98D-CA6B-411B-8952-5EE9AF560071}"/>
    <dgm:cxn modelId="{A18B4B23-04A2-4841-B700-04DD20927E61}" type="presOf" srcId="{BCBA51C8-9CE5-4736-B55F-A4EF4631C459}" destId="{B1A31D9B-5B11-4006-B684-D95BC8F597D5}" srcOrd="0" destOrd="0" presId="urn:microsoft.com/office/officeart/2018/2/layout/IconVerticalSolidList"/>
    <dgm:cxn modelId="{011D014E-FE57-444F-B7D1-96D20E6C431C}" type="presOf" srcId="{C16B7FC1-1106-4E1A-9021-B849347533AB}" destId="{B414661D-779E-4C31-AB21-A8E598C9832C}" srcOrd="0" destOrd="0" presId="urn:microsoft.com/office/officeart/2018/2/layout/IconVerticalSolidList"/>
    <dgm:cxn modelId="{73C22183-6F83-4C4C-8B26-4854075B05AE}" srcId="{C16B7FC1-1106-4E1A-9021-B849347533AB}" destId="{BCBA51C8-9CE5-4736-B55F-A4EF4631C459}" srcOrd="0" destOrd="0" parTransId="{F9390129-F343-4977-88CE-CF917024E60F}" sibTransId="{025A46B3-FC3E-4780-A14E-25768CA2F89B}"/>
    <dgm:cxn modelId="{07890690-7CF0-46B3-9F54-3E881DA10709}" type="presOf" srcId="{66BBA653-0E92-4ECF-8290-5431429F8EFE}" destId="{19FF0B22-1132-474B-96D8-55B59A6A5347}" srcOrd="0" destOrd="0" presId="urn:microsoft.com/office/officeart/2018/2/layout/IconVerticalSolidList"/>
    <dgm:cxn modelId="{E676429E-60A1-4AAD-947E-0C47B2E9E421}" type="presOf" srcId="{F84A6322-7CF8-40E6-ABA0-72EE22BA3D00}" destId="{A224EBDB-0F3E-4C7F-963E-465E556325C4}" srcOrd="0" destOrd="0" presId="urn:microsoft.com/office/officeart/2018/2/layout/IconVerticalSolidList"/>
    <dgm:cxn modelId="{BD080BCE-22E9-40C0-9C4F-E228273FD6A6}" srcId="{C16B7FC1-1106-4E1A-9021-B849347533AB}" destId="{83828785-C906-4452-B784-9EC795433AE8}" srcOrd="3" destOrd="0" parTransId="{46C301ED-0FB9-4A29-B02F-316C7CC5DAF2}" sibTransId="{6A9DDE00-5FF6-4E1F-BBCE-73B1272C8D85}"/>
    <dgm:cxn modelId="{083617DA-81D9-460D-AFFB-20263CEA01A5}" type="presOf" srcId="{83828785-C906-4452-B784-9EC795433AE8}" destId="{887D078F-84DE-4C58-9B6F-E622B978E11D}" srcOrd="0" destOrd="0" presId="urn:microsoft.com/office/officeart/2018/2/layout/IconVerticalSolidList"/>
    <dgm:cxn modelId="{D39EE0F3-D21D-45B5-BF9F-F3647659D337}" srcId="{C16B7FC1-1106-4E1A-9021-B849347533AB}" destId="{F84A6322-7CF8-40E6-ABA0-72EE22BA3D00}" srcOrd="1" destOrd="0" parTransId="{A5E0D5A2-674E-4ADB-B81D-9B2331C8ACB3}" sibTransId="{466466DF-9A5D-4842-8B41-553447CE4794}"/>
    <dgm:cxn modelId="{AE959180-8495-4D59-932F-FB71A44C573D}" type="presParOf" srcId="{B414661D-779E-4C31-AB21-A8E598C9832C}" destId="{D340E6F3-9C7C-4D72-9E49-9AF51E23F9B5}" srcOrd="0" destOrd="0" presId="urn:microsoft.com/office/officeart/2018/2/layout/IconVerticalSolidList"/>
    <dgm:cxn modelId="{3C361CBA-710F-47C8-B396-0E22A5D7D596}" type="presParOf" srcId="{D340E6F3-9C7C-4D72-9E49-9AF51E23F9B5}" destId="{61D2551B-6C9A-4C34-9F8E-128B9FC37125}" srcOrd="0" destOrd="0" presId="urn:microsoft.com/office/officeart/2018/2/layout/IconVerticalSolidList"/>
    <dgm:cxn modelId="{A71DD162-66C1-420F-B1EF-83E8DF040729}" type="presParOf" srcId="{D340E6F3-9C7C-4D72-9E49-9AF51E23F9B5}" destId="{983C4FD8-91C1-48A6-8CD1-9ABBDAD8C30B}" srcOrd="1" destOrd="0" presId="urn:microsoft.com/office/officeart/2018/2/layout/IconVerticalSolidList"/>
    <dgm:cxn modelId="{384C4B40-D3E0-439B-9F10-EA6BDD4C13CB}" type="presParOf" srcId="{D340E6F3-9C7C-4D72-9E49-9AF51E23F9B5}" destId="{36262739-5261-4C03-974A-19A888FF1A54}" srcOrd="2" destOrd="0" presId="urn:microsoft.com/office/officeart/2018/2/layout/IconVerticalSolidList"/>
    <dgm:cxn modelId="{122DF5F6-555B-4F50-9F88-829F83C2CCB6}" type="presParOf" srcId="{D340E6F3-9C7C-4D72-9E49-9AF51E23F9B5}" destId="{B1A31D9B-5B11-4006-B684-D95BC8F597D5}" srcOrd="3" destOrd="0" presId="urn:microsoft.com/office/officeart/2018/2/layout/IconVerticalSolidList"/>
    <dgm:cxn modelId="{0CF7AEF3-78C7-4DE0-891D-A2DA91DA63D5}" type="presParOf" srcId="{B414661D-779E-4C31-AB21-A8E598C9832C}" destId="{1B8DCC3B-DCF3-48E0-BED3-330AE47B7EBE}" srcOrd="1" destOrd="0" presId="urn:microsoft.com/office/officeart/2018/2/layout/IconVerticalSolidList"/>
    <dgm:cxn modelId="{75A9DD4D-0DB4-4AF5-8F32-6C22D80A82E3}" type="presParOf" srcId="{B414661D-779E-4C31-AB21-A8E598C9832C}" destId="{32073E4A-2019-4116-83F8-FEA83F7DA9E6}" srcOrd="2" destOrd="0" presId="urn:microsoft.com/office/officeart/2018/2/layout/IconVerticalSolidList"/>
    <dgm:cxn modelId="{AAFCD29C-9E0A-4662-8DA8-D8DADE229FFC}" type="presParOf" srcId="{32073E4A-2019-4116-83F8-FEA83F7DA9E6}" destId="{B59692C2-3F46-4DAA-9B45-A258C4495300}" srcOrd="0" destOrd="0" presId="urn:microsoft.com/office/officeart/2018/2/layout/IconVerticalSolidList"/>
    <dgm:cxn modelId="{4810F936-8FB4-4880-8AFC-502394560990}" type="presParOf" srcId="{32073E4A-2019-4116-83F8-FEA83F7DA9E6}" destId="{564FF7E9-04D5-41ED-A3D3-E6F38750B159}" srcOrd="1" destOrd="0" presId="urn:microsoft.com/office/officeart/2018/2/layout/IconVerticalSolidList"/>
    <dgm:cxn modelId="{0BCB5054-3258-46E2-A80D-3B9A46EC12C1}" type="presParOf" srcId="{32073E4A-2019-4116-83F8-FEA83F7DA9E6}" destId="{633B46E0-363E-4A49-9590-E3CF1C9076AA}" srcOrd="2" destOrd="0" presId="urn:microsoft.com/office/officeart/2018/2/layout/IconVerticalSolidList"/>
    <dgm:cxn modelId="{09FD6C44-E638-414A-B375-FE3FDD92BC98}" type="presParOf" srcId="{32073E4A-2019-4116-83F8-FEA83F7DA9E6}" destId="{A224EBDB-0F3E-4C7F-963E-465E556325C4}" srcOrd="3" destOrd="0" presId="urn:microsoft.com/office/officeart/2018/2/layout/IconVerticalSolidList"/>
    <dgm:cxn modelId="{94FAF421-EC51-4AF8-B5C1-CCF91021EA8F}" type="presParOf" srcId="{B414661D-779E-4C31-AB21-A8E598C9832C}" destId="{A9AFCAB5-CFEC-40ED-91DD-F42304E39FF2}" srcOrd="3" destOrd="0" presId="urn:microsoft.com/office/officeart/2018/2/layout/IconVerticalSolidList"/>
    <dgm:cxn modelId="{1C4CBFFA-AB05-4062-8794-9D6D731C582A}" type="presParOf" srcId="{B414661D-779E-4C31-AB21-A8E598C9832C}" destId="{01B9E25C-BE85-49A0-BBE7-FE4A6239D28A}" srcOrd="4" destOrd="0" presId="urn:microsoft.com/office/officeart/2018/2/layout/IconVerticalSolidList"/>
    <dgm:cxn modelId="{25552683-3C37-4B3F-A11E-61787C3F2B37}" type="presParOf" srcId="{01B9E25C-BE85-49A0-BBE7-FE4A6239D28A}" destId="{74EDFD06-4C20-470D-ACD6-DD295C1C6354}" srcOrd="0" destOrd="0" presId="urn:microsoft.com/office/officeart/2018/2/layout/IconVerticalSolidList"/>
    <dgm:cxn modelId="{557DCBFD-042B-46D3-BD4B-A94BAF5EA68B}" type="presParOf" srcId="{01B9E25C-BE85-49A0-BBE7-FE4A6239D28A}" destId="{3B7523D4-9604-4A18-9D9C-C1077675B7C9}" srcOrd="1" destOrd="0" presId="urn:microsoft.com/office/officeart/2018/2/layout/IconVerticalSolidList"/>
    <dgm:cxn modelId="{37D9575B-9273-4C69-BDFF-60F9FE39F581}" type="presParOf" srcId="{01B9E25C-BE85-49A0-BBE7-FE4A6239D28A}" destId="{1B0B21E7-B319-4E56-96CC-08B46269C7F4}" srcOrd="2" destOrd="0" presId="urn:microsoft.com/office/officeart/2018/2/layout/IconVerticalSolidList"/>
    <dgm:cxn modelId="{D24F6FA3-7650-41A5-860D-FCECE560A8B6}" type="presParOf" srcId="{01B9E25C-BE85-49A0-BBE7-FE4A6239D28A}" destId="{19FF0B22-1132-474B-96D8-55B59A6A5347}" srcOrd="3" destOrd="0" presId="urn:microsoft.com/office/officeart/2018/2/layout/IconVerticalSolidList"/>
    <dgm:cxn modelId="{99B3A87A-2E73-4C80-8305-9831BB9DF12B}" type="presParOf" srcId="{B414661D-779E-4C31-AB21-A8E598C9832C}" destId="{27E43D3A-1911-4319-A431-74D6F6E4A7A4}" srcOrd="5" destOrd="0" presId="urn:microsoft.com/office/officeart/2018/2/layout/IconVerticalSolidList"/>
    <dgm:cxn modelId="{1AEF91DD-E96A-47B8-9627-B19ABA040F3E}" type="presParOf" srcId="{B414661D-779E-4C31-AB21-A8E598C9832C}" destId="{78D2D39A-F089-4279-886A-6E5334E991E5}" srcOrd="6" destOrd="0" presId="urn:microsoft.com/office/officeart/2018/2/layout/IconVerticalSolidList"/>
    <dgm:cxn modelId="{985CDFF5-FD64-42B3-9504-8D1DBC610B57}" type="presParOf" srcId="{78D2D39A-F089-4279-886A-6E5334E991E5}" destId="{855F106D-07B2-4D11-A215-E5FA7857C12F}" srcOrd="0" destOrd="0" presId="urn:microsoft.com/office/officeart/2018/2/layout/IconVerticalSolidList"/>
    <dgm:cxn modelId="{4EE836E3-F4DA-45BB-94C2-66F0C7E26D6E}" type="presParOf" srcId="{78D2D39A-F089-4279-886A-6E5334E991E5}" destId="{44597E84-06A9-44F2-9197-CC042000A124}" srcOrd="1" destOrd="0" presId="urn:microsoft.com/office/officeart/2018/2/layout/IconVerticalSolidList"/>
    <dgm:cxn modelId="{968B156B-4FF1-42CF-BED4-50C2628AB68C}" type="presParOf" srcId="{78D2D39A-F089-4279-886A-6E5334E991E5}" destId="{FB733DF5-908C-453F-9343-FAF2FA72F08C}" srcOrd="2" destOrd="0" presId="urn:microsoft.com/office/officeart/2018/2/layout/IconVerticalSolidList"/>
    <dgm:cxn modelId="{2E829406-5694-4759-BB31-BF90BC9664E9}" type="presParOf" srcId="{78D2D39A-F089-4279-886A-6E5334E991E5}" destId="{887D078F-84DE-4C58-9B6F-E622B978E1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5D32FE-8A2F-44B8-B938-11DDA448C5B0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0DEE327-8624-4E25-BB02-D0BB92519C8E}">
      <dgm:prSet/>
      <dgm:spPr/>
      <dgm:t>
        <a:bodyPr/>
        <a:lstStyle/>
        <a:p>
          <a:r>
            <a:rPr lang="en-US"/>
            <a:t>Dataset source: Roboflow public “Safety Helmet Detection” dataset.</a:t>
          </a:r>
        </a:p>
      </dgm:t>
    </dgm:pt>
    <dgm:pt modelId="{FABA4806-EC7F-4430-9D7C-4E419BC41474}" type="parTrans" cxnId="{1C7C8936-3BCD-4ACD-ADED-0C1B5F3E7998}">
      <dgm:prSet/>
      <dgm:spPr/>
      <dgm:t>
        <a:bodyPr/>
        <a:lstStyle/>
        <a:p>
          <a:endParaRPr lang="en-US"/>
        </a:p>
      </dgm:t>
    </dgm:pt>
    <dgm:pt modelId="{6CB65E60-ED86-441A-B7C1-FA5C0612B202}" type="sibTrans" cxnId="{1C7C8936-3BCD-4ACD-ADED-0C1B5F3E7998}">
      <dgm:prSet/>
      <dgm:spPr/>
      <dgm:t>
        <a:bodyPr/>
        <a:lstStyle/>
        <a:p>
          <a:endParaRPr lang="en-US"/>
        </a:p>
      </dgm:t>
    </dgm:pt>
    <dgm:pt modelId="{1D7C325B-0FDC-4D06-AB49-4C8441AFB37F}">
      <dgm:prSet/>
      <dgm:spPr/>
      <dgm:t>
        <a:bodyPr/>
        <a:lstStyle/>
        <a:p>
          <a:r>
            <a:rPr lang="en-US"/>
            <a:t>Contains images of workers </a:t>
          </a:r>
          <a:r>
            <a:rPr lang="en-US" b="1"/>
            <a:t>with</a:t>
          </a:r>
          <a:r>
            <a:rPr lang="en-US"/>
            <a:t> and </a:t>
          </a:r>
          <a:r>
            <a:rPr lang="en-US" b="1"/>
            <a:t>without</a:t>
          </a:r>
          <a:r>
            <a:rPr lang="en-US"/>
            <a:t> helmets.</a:t>
          </a:r>
        </a:p>
      </dgm:t>
    </dgm:pt>
    <dgm:pt modelId="{124DB582-0312-4B41-88B2-2C38F40A1053}" type="parTrans" cxnId="{F5A49E5A-E294-470C-BA59-8A415172A9FB}">
      <dgm:prSet/>
      <dgm:spPr/>
      <dgm:t>
        <a:bodyPr/>
        <a:lstStyle/>
        <a:p>
          <a:endParaRPr lang="en-US"/>
        </a:p>
      </dgm:t>
    </dgm:pt>
    <dgm:pt modelId="{695B0B04-C6A8-43F5-8300-77A2816ECB70}" type="sibTrans" cxnId="{F5A49E5A-E294-470C-BA59-8A415172A9FB}">
      <dgm:prSet/>
      <dgm:spPr/>
      <dgm:t>
        <a:bodyPr/>
        <a:lstStyle/>
        <a:p>
          <a:endParaRPr lang="en-US"/>
        </a:p>
      </dgm:t>
    </dgm:pt>
    <dgm:pt modelId="{0BE98F95-E5AA-4B93-91D9-7716410354A6}">
      <dgm:prSet/>
      <dgm:spPr/>
      <dgm:t>
        <a:bodyPr/>
        <a:lstStyle/>
        <a:p>
          <a:r>
            <a:rPr lang="en-US"/>
            <a:t>Data will be preprocessed and split into train/test sets.</a:t>
          </a:r>
        </a:p>
      </dgm:t>
    </dgm:pt>
    <dgm:pt modelId="{71C98CC0-C7A8-4C18-8E21-DCFB75B02F3E}" type="parTrans" cxnId="{8DA43944-9AC2-429B-B78B-846BD31473BD}">
      <dgm:prSet/>
      <dgm:spPr/>
      <dgm:t>
        <a:bodyPr/>
        <a:lstStyle/>
        <a:p>
          <a:endParaRPr lang="en-US"/>
        </a:p>
      </dgm:t>
    </dgm:pt>
    <dgm:pt modelId="{4DDB650D-C314-4390-B058-1728784F0C1C}" type="sibTrans" cxnId="{8DA43944-9AC2-429B-B78B-846BD31473BD}">
      <dgm:prSet/>
      <dgm:spPr/>
      <dgm:t>
        <a:bodyPr/>
        <a:lstStyle/>
        <a:p>
          <a:endParaRPr lang="en-US"/>
        </a:p>
      </dgm:t>
    </dgm:pt>
    <dgm:pt modelId="{F99FC23B-B7EC-49EE-9006-5C5B4B272B8E}">
      <dgm:prSet/>
      <dgm:spPr/>
      <dgm:t>
        <a:bodyPr/>
        <a:lstStyle/>
        <a:p>
          <a:r>
            <a:rPr lang="en-US"/>
            <a:t>Augmentation: resize, flip, adjust brightness.</a:t>
          </a:r>
        </a:p>
      </dgm:t>
    </dgm:pt>
    <dgm:pt modelId="{50C2971F-C6D1-42D3-859C-53565C1D0115}" type="parTrans" cxnId="{2B487DA3-3635-4D9F-8EAA-5DBFF71AA6E4}">
      <dgm:prSet/>
      <dgm:spPr/>
      <dgm:t>
        <a:bodyPr/>
        <a:lstStyle/>
        <a:p>
          <a:endParaRPr lang="en-US"/>
        </a:p>
      </dgm:t>
    </dgm:pt>
    <dgm:pt modelId="{FB9A6CB7-713C-46B2-9516-C764D2BFD271}" type="sibTrans" cxnId="{2B487DA3-3635-4D9F-8EAA-5DBFF71AA6E4}">
      <dgm:prSet/>
      <dgm:spPr/>
      <dgm:t>
        <a:bodyPr/>
        <a:lstStyle/>
        <a:p>
          <a:endParaRPr lang="en-US"/>
        </a:p>
      </dgm:t>
    </dgm:pt>
    <dgm:pt modelId="{AF576417-37E2-4434-99E0-71749DC04000}" type="pres">
      <dgm:prSet presAssocID="{025D32FE-8A2F-44B8-B938-11DDA448C5B0}" presName="matrix" presStyleCnt="0">
        <dgm:presLayoutVars>
          <dgm:chMax val="1"/>
          <dgm:dir/>
          <dgm:resizeHandles val="exact"/>
        </dgm:presLayoutVars>
      </dgm:prSet>
      <dgm:spPr/>
    </dgm:pt>
    <dgm:pt modelId="{66B5CB0F-5E06-4872-AF09-C2D5EF0A5F8F}" type="pres">
      <dgm:prSet presAssocID="{025D32FE-8A2F-44B8-B938-11DDA448C5B0}" presName="diamond" presStyleLbl="bgShp" presStyleIdx="0" presStyleCnt="1"/>
      <dgm:spPr/>
    </dgm:pt>
    <dgm:pt modelId="{8A52F3D0-C049-4F7A-9DEA-D4A518E794FB}" type="pres">
      <dgm:prSet presAssocID="{025D32FE-8A2F-44B8-B938-11DDA448C5B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666B789-7817-419E-BFEB-BCF94A96DFD9}" type="pres">
      <dgm:prSet presAssocID="{025D32FE-8A2F-44B8-B938-11DDA448C5B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992E984-F766-448F-9441-6A3C29853878}" type="pres">
      <dgm:prSet presAssocID="{025D32FE-8A2F-44B8-B938-11DDA448C5B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970BD95-215D-46D8-AADB-A380AE97DE79}" type="pres">
      <dgm:prSet presAssocID="{025D32FE-8A2F-44B8-B938-11DDA448C5B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33EBE20-7BA1-467E-B260-DF6506866FDF}" type="presOf" srcId="{0BE98F95-E5AA-4B93-91D9-7716410354A6}" destId="{3992E984-F766-448F-9441-6A3C29853878}" srcOrd="0" destOrd="0" presId="urn:microsoft.com/office/officeart/2005/8/layout/matrix3"/>
    <dgm:cxn modelId="{82505235-7779-406E-8706-8A6402440036}" type="presOf" srcId="{025D32FE-8A2F-44B8-B938-11DDA448C5B0}" destId="{AF576417-37E2-4434-99E0-71749DC04000}" srcOrd="0" destOrd="0" presId="urn:microsoft.com/office/officeart/2005/8/layout/matrix3"/>
    <dgm:cxn modelId="{1C7C8936-3BCD-4ACD-ADED-0C1B5F3E7998}" srcId="{025D32FE-8A2F-44B8-B938-11DDA448C5B0}" destId="{A0DEE327-8624-4E25-BB02-D0BB92519C8E}" srcOrd="0" destOrd="0" parTransId="{FABA4806-EC7F-4430-9D7C-4E419BC41474}" sibTransId="{6CB65E60-ED86-441A-B7C1-FA5C0612B202}"/>
    <dgm:cxn modelId="{8DA43944-9AC2-429B-B78B-846BD31473BD}" srcId="{025D32FE-8A2F-44B8-B938-11DDA448C5B0}" destId="{0BE98F95-E5AA-4B93-91D9-7716410354A6}" srcOrd="2" destOrd="0" parTransId="{71C98CC0-C7A8-4C18-8E21-DCFB75B02F3E}" sibTransId="{4DDB650D-C314-4390-B058-1728784F0C1C}"/>
    <dgm:cxn modelId="{16823C49-06F1-43EF-92DC-AC2E3FA161FE}" type="presOf" srcId="{A0DEE327-8624-4E25-BB02-D0BB92519C8E}" destId="{8A52F3D0-C049-4F7A-9DEA-D4A518E794FB}" srcOrd="0" destOrd="0" presId="urn:microsoft.com/office/officeart/2005/8/layout/matrix3"/>
    <dgm:cxn modelId="{F5A49E5A-E294-470C-BA59-8A415172A9FB}" srcId="{025D32FE-8A2F-44B8-B938-11DDA448C5B0}" destId="{1D7C325B-0FDC-4D06-AB49-4C8441AFB37F}" srcOrd="1" destOrd="0" parTransId="{124DB582-0312-4B41-88B2-2C38F40A1053}" sibTransId="{695B0B04-C6A8-43F5-8300-77A2816ECB70}"/>
    <dgm:cxn modelId="{BB57497B-B788-4D1E-A96B-CF3CA07B9E6D}" type="presOf" srcId="{1D7C325B-0FDC-4D06-AB49-4C8441AFB37F}" destId="{B666B789-7817-419E-BFEB-BCF94A96DFD9}" srcOrd="0" destOrd="0" presId="urn:microsoft.com/office/officeart/2005/8/layout/matrix3"/>
    <dgm:cxn modelId="{2B487DA3-3635-4D9F-8EAA-5DBFF71AA6E4}" srcId="{025D32FE-8A2F-44B8-B938-11DDA448C5B0}" destId="{F99FC23B-B7EC-49EE-9006-5C5B4B272B8E}" srcOrd="3" destOrd="0" parTransId="{50C2971F-C6D1-42D3-859C-53565C1D0115}" sibTransId="{FB9A6CB7-713C-46B2-9516-C764D2BFD271}"/>
    <dgm:cxn modelId="{5A0534E4-1CD1-44A5-9D38-3AC31149C94C}" type="presOf" srcId="{F99FC23B-B7EC-49EE-9006-5C5B4B272B8E}" destId="{7970BD95-215D-46D8-AADB-A380AE97DE79}" srcOrd="0" destOrd="0" presId="urn:microsoft.com/office/officeart/2005/8/layout/matrix3"/>
    <dgm:cxn modelId="{15ECF0D2-ACD6-4B7D-B248-BA2B4F389B07}" type="presParOf" srcId="{AF576417-37E2-4434-99E0-71749DC04000}" destId="{66B5CB0F-5E06-4872-AF09-C2D5EF0A5F8F}" srcOrd="0" destOrd="0" presId="urn:microsoft.com/office/officeart/2005/8/layout/matrix3"/>
    <dgm:cxn modelId="{6A68C53D-446F-4163-9D2F-143E444CC66F}" type="presParOf" srcId="{AF576417-37E2-4434-99E0-71749DC04000}" destId="{8A52F3D0-C049-4F7A-9DEA-D4A518E794FB}" srcOrd="1" destOrd="0" presId="urn:microsoft.com/office/officeart/2005/8/layout/matrix3"/>
    <dgm:cxn modelId="{59C4D8E4-9229-41C6-AB3A-4C10BFE6A157}" type="presParOf" srcId="{AF576417-37E2-4434-99E0-71749DC04000}" destId="{B666B789-7817-419E-BFEB-BCF94A96DFD9}" srcOrd="2" destOrd="0" presId="urn:microsoft.com/office/officeart/2005/8/layout/matrix3"/>
    <dgm:cxn modelId="{BACC6571-D7E8-4D7C-A481-1F810368FF8F}" type="presParOf" srcId="{AF576417-37E2-4434-99E0-71749DC04000}" destId="{3992E984-F766-448F-9441-6A3C29853878}" srcOrd="3" destOrd="0" presId="urn:microsoft.com/office/officeart/2005/8/layout/matrix3"/>
    <dgm:cxn modelId="{E9215048-5942-4CFE-B963-F8B40E46516C}" type="presParOf" srcId="{AF576417-37E2-4434-99E0-71749DC04000}" destId="{7970BD95-215D-46D8-AADB-A380AE97DE7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2551B-6C9A-4C34-9F8E-128B9FC37125}">
      <dsp:nvSpPr>
        <dsp:cNvPr id="0" name=""/>
        <dsp:cNvSpPr/>
      </dsp:nvSpPr>
      <dsp:spPr>
        <a:xfrm>
          <a:off x="0" y="2258"/>
          <a:ext cx="6830568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C4FD8-91C1-48A6-8CD1-9ABBDAD8C30B}">
      <dsp:nvSpPr>
        <dsp:cNvPr id="0" name=""/>
        <dsp:cNvSpPr/>
      </dsp:nvSpPr>
      <dsp:spPr>
        <a:xfrm>
          <a:off x="346197" y="259760"/>
          <a:ext cx="629450" cy="6294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31D9B-5B11-4006-B684-D95BC8F597D5}">
      <dsp:nvSpPr>
        <dsp:cNvPr id="0" name=""/>
        <dsp:cNvSpPr/>
      </dsp:nvSpPr>
      <dsp:spPr>
        <a:xfrm>
          <a:off x="1321846" y="2258"/>
          <a:ext cx="5508721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YOLOv8 (You Only Look Once) for real-time object detection.</a:t>
          </a:r>
        </a:p>
      </dsp:txBody>
      <dsp:txXfrm>
        <a:off x="1321846" y="2258"/>
        <a:ext cx="5508721" cy="1144455"/>
      </dsp:txXfrm>
    </dsp:sp>
    <dsp:sp modelId="{B59692C2-3F46-4DAA-9B45-A258C4495300}">
      <dsp:nvSpPr>
        <dsp:cNvPr id="0" name=""/>
        <dsp:cNvSpPr/>
      </dsp:nvSpPr>
      <dsp:spPr>
        <a:xfrm>
          <a:off x="0" y="1432827"/>
          <a:ext cx="6830568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FF7E9-04D5-41ED-A3D3-E6F38750B159}">
      <dsp:nvSpPr>
        <dsp:cNvPr id="0" name=""/>
        <dsp:cNvSpPr/>
      </dsp:nvSpPr>
      <dsp:spPr>
        <a:xfrm>
          <a:off x="346197" y="1690330"/>
          <a:ext cx="629450" cy="6294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4EBDB-0F3E-4C7F-963E-465E556325C4}">
      <dsp:nvSpPr>
        <dsp:cNvPr id="0" name=""/>
        <dsp:cNvSpPr/>
      </dsp:nvSpPr>
      <dsp:spPr>
        <a:xfrm>
          <a:off x="1321846" y="1432827"/>
          <a:ext cx="5508721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 the model using helmet detection datasets from Roboflow.</a:t>
          </a:r>
        </a:p>
      </dsp:txBody>
      <dsp:txXfrm>
        <a:off x="1321846" y="1432827"/>
        <a:ext cx="5508721" cy="1144455"/>
      </dsp:txXfrm>
    </dsp:sp>
    <dsp:sp modelId="{74EDFD06-4C20-470D-ACD6-DD295C1C6354}">
      <dsp:nvSpPr>
        <dsp:cNvPr id="0" name=""/>
        <dsp:cNvSpPr/>
      </dsp:nvSpPr>
      <dsp:spPr>
        <a:xfrm>
          <a:off x="0" y="2863396"/>
          <a:ext cx="6830568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7523D4-9604-4A18-9D9C-C1077675B7C9}">
      <dsp:nvSpPr>
        <dsp:cNvPr id="0" name=""/>
        <dsp:cNvSpPr/>
      </dsp:nvSpPr>
      <dsp:spPr>
        <a:xfrm>
          <a:off x="346197" y="3120899"/>
          <a:ext cx="629450" cy="6294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F0B22-1132-474B-96D8-55B59A6A5347}">
      <dsp:nvSpPr>
        <dsp:cNvPr id="0" name=""/>
        <dsp:cNvSpPr/>
      </dsp:nvSpPr>
      <dsp:spPr>
        <a:xfrm>
          <a:off x="1321846" y="2863396"/>
          <a:ext cx="5508721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Run and test the model on Google Colab using Python.</a:t>
          </a:r>
        </a:p>
      </dsp:txBody>
      <dsp:txXfrm>
        <a:off x="1321846" y="2863396"/>
        <a:ext cx="5508721" cy="1144455"/>
      </dsp:txXfrm>
    </dsp:sp>
    <dsp:sp modelId="{855F106D-07B2-4D11-A215-E5FA7857C12F}">
      <dsp:nvSpPr>
        <dsp:cNvPr id="0" name=""/>
        <dsp:cNvSpPr/>
      </dsp:nvSpPr>
      <dsp:spPr>
        <a:xfrm>
          <a:off x="0" y="4293966"/>
          <a:ext cx="6830568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97E84-06A9-44F2-9197-CC042000A124}">
      <dsp:nvSpPr>
        <dsp:cNvPr id="0" name=""/>
        <dsp:cNvSpPr/>
      </dsp:nvSpPr>
      <dsp:spPr>
        <a:xfrm>
          <a:off x="346197" y="4551468"/>
          <a:ext cx="629450" cy="6294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D078F-84DE-4C58-9B6F-E622B978E11D}">
      <dsp:nvSpPr>
        <dsp:cNvPr id="0" name=""/>
        <dsp:cNvSpPr/>
      </dsp:nvSpPr>
      <dsp:spPr>
        <a:xfrm>
          <a:off x="1321846" y="4293966"/>
          <a:ext cx="5508721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 accuracy and detection speed.</a:t>
          </a:r>
        </a:p>
      </dsp:txBody>
      <dsp:txXfrm>
        <a:off x="1321846" y="4293966"/>
        <a:ext cx="5508721" cy="11444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5CB0F-5E06-4872-AF09-C2D5EF0A5F8F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A52F3D0-C049-4F7A-9DEA-D4A518E794FB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 source: Roboflow public “Safety Helmet Detection” dataset.</a:t>
          </a:r>
        </a:p>
      </dsp:txBody>
      <dsp:txXfrm>
        <a:off x="1228411" y="621955"/>
        <a:ext cx="1919362" cy="1919362"/>
      </dsp:txXfrm>
    </dsp:sp>
    <dsp:sp modelId="{B666B789-7817-419E-BFEB-BCF94A96DFD9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Contains images of workers </a:t>
          </a:r>
          <a:r>
            <a:rPr lang="en-US" sz="2000" b="1" kern="1200"/>
            <a:t>with</a:t>
          </a:r>
          <a:r>
            <a:rPr lang="en-US" sz="2000" kern="1200"/>
            <a:t> and </a:t>
          </a:r>
          <a:r>
            <a:rPr lang="en-US" sz="2000" b="1" kern="1200"/>
            <a:t>without</a:t>
          </a:r>
          <a:r>
            <a:rPr lang="en-US" sz="2000" kern="1200"/>
            <a:t> helmets.</a:t>
          </a:r>
        </a:p>
      </dsp:txBody>
      <dsp:txXfrm>
        <a:off x="3519058" y="621955"/>
        <a:ext cx="1919362" cy="1919362"/>
      </dsp:txXfrm>
    </dsp:sp>
    <dsp:sp modelId="{3992E984-F766-448F-9441-6A3C29853878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will be preprocessed and split into train/test sets.</a:t>
          </a:r>
        </a:p>
      </dsp:txBody>
      <dsp:txXfrm>
        <a:off x="1228411" y="2912601"/>
        <a:ext cx="1919362" cy="1919362"/>
      </dsp:txXfrm>
    </dsp:sp>
    <dsp:sp modelId="{7970BD95-215D-46D8-AADB-A380AE97DE79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Augmentation: resize, flip, adjust brightness.</a:t>
          </a:r>
        </a:p>
      </dsp:txBody>
      <dsp:txXfrm>
        <a:off x="3519058" y="2912601"/>
        <a:ext cx="1919362" cy="1919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Smart Helmet Detector:</a:t>
            </a:r>
            <a:br>
              <a:rPr lang="en-US" sz="4800" dirty="0">
                <a:solidFill>
                  <a:srgbClr val="FFFFFF"/>
                </a:solidFill>
                <a:latin typeface="Aptos Display"/>
                <a:ea typeface="+mj-lt"/>
                <a:cs typeface="+mj-lt"/>
              </a:rPr>
            </a:br>
            <a:r>
              <a:rPr lang="en-US" sz="3400">
                <a:solidFill>
                  <a:srgbClr val="FFFFFF"/>
                </a:solidFill>
                <a:latin typeface="Aptos"/>
                <a:ea typeface="+mj-lt"/>
                <a:cs typeface="+mj-lt"/>
              </a:rPr>
              <a:t>Detecting if construction workers wear helmets </a:t>
            </a:r>
            <a:r>
              <a:rPr lang="en-US" sz="3400" dirty="0">
                <a:solidFill>
                  <a:srgbClr val="FFFFFF"/>
                </a:solidFill>
                <a:latin typeface="Aptos"/>
                <a:ea typeface="+mj-lt"/>
                <a:cs typeface="+mj-lt"/>
              </a:rPr>
              <a:t>using AI.</a:t>
            </a: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 dirty="0">
                <a:ea typeface="+mn-lt"/>
                <a:cs typeface="+mn-lt"/>
              </a:rPr>
              <a:t>Student:</a:t>
            </a:r>
            <a:r>
              <a:rPr lang="en-US" dirty="0">
                <a:ea typeface="+mn-lt"/>
                <a:cs typeface="+mn-lt"/>
              </a:rPr>
              <a:t> Koffi Viglo </a:t>
            </a:r>
            <a:r>
              <a:rPr lang="en-US">
                <a:ea typeface="+mn-lt"/>
                <a:cs typeface="+mn-lt"/>
              </a:rPr>
              <a:t>and Erwin Cheng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</a:p>
          <a:p>
            <a:pPr algn="l"/>
            <a:r>
              <a:rPr lang="en-US" b="1">
                <a:ea typeface="+mn-lt"/>
                <a:cs typeface="+mn-lt"/>
              </a:rPr>
              <a:t>Course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ITAI 1378- Comp Vision-Artificial intel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EC86C-7455-8A9A-16E0-D112E6FF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Problem</a:t>
            </a:r>
            <a:endParaRPr lang="en-US" sz="3200"/>
          </a:p>
        </p:txBody>
      </p:sp>
      <p:pic>
        <p:nvPicPr>
          <p:cNvPr id="20" name="Picture 19" descr="Construction work tools">
            <a:extLst>
              <a:ext uri="{FF2B5EF4-FFF2-40B4-BE49-F238E27FC236}">
                <a16:creationId xmlns:a16="http://schemas.microsoft.com/office/drawing/2014/main" id="{B1D7CCB7-F3DA-C08D-625A-9FE5586E8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2" r="12023" b="-3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C2C71-CB26-E65A-E8B6-759650B97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      Many construction workers forget or refuse to wear helmets.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This leads to serious head injuries and even fatal accidents.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Supervisors can’t monitor every worker all the time.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We need an automated safety system to detect who is not wearing a helmet.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6436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43365C-68F6-BCF0-5D6E-ABBC7D37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Proposed Solution</a:t>
            </a: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11" name="Graphic 10" descr="Security Camera Sign">
            <a:extLst>
              <a:ext uri="{FF2B5EF4-FFF2-40B4-BE49-F238E27FC236}">
                <a16:creationId xmlns:a16="http://schemas.microsoft.com/office/drawing/2014/main" id="{A208F543-8B1A-A5D5-D778-AF6A69ED0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B11B4-1043-FB8C-7C68-1930AF612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Build an AI-based camera system that:</a:t>
            </a:r>
            <a:endParaRPr lang="en-US" sz="1800" b="1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Uses object detection to identify people and helmets.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Alerts supervisors if a worker is seen without a helmet.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Can be used on construction sites or industrial areas.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4147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8398A-CE92-75E3-B186-13C47F84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507160"/>
            <a:ext cx="2993571" cy="5438730"/>
          </a:xfrm>
        </p:spPr>
        <p:txBody>
          <a:bodyPr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Technical Approach</a:t>
            </a:r>
            <a:endParaRPr lang="en-US" sz="3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87448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7E5101-975A-0F1C-A661-F4996EA08B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031516"/>
              </p:ext>
            </p:extLst>
          </p:nvPr>
        </p:nvGraphicFramePr>
        <p:xfrm>
          <a:off x="4526280" y="512064"/>
          <a:ext cx="6830568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422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AFB37-42F7-6D4B-4A2D-A9D9FD485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Data Plan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7B08BD-FFFE-869B-B159-C48D99A376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3244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7632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631EC-C586-DDDA-ACA5-567CD2CF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Slide 6: System Diagram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74EE3-8F8B-FC1D-0A01-B98E6FA9D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It will be: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Camera → YOLOv8 Model →  Detection →  Alert (No Helmet)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Simple pipeline: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Capture image/video.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Detect person and helmet.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Compare bounding boxes.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If person has no helmet → send alert.</a:t>
            </a:r>
            <a:endParaRPr lang="en-US" sz="2000" dirty="0"/>
          </a:p>
          <a:p>
            <a:endParaRPr lang="en-US" sz="2000"/>
          </a:p>
        </p:txBody>
      </p:sp>
      <p:pic>
        <p:nvPicPr>
          <p:cNvPr id="5" name="Picture 4" descr="Technological background">
            <a:extLst>
              <a:ext uri="{FF2B5EF4-FFF2-40B4-BE49-F238E27FC236}">
                <a16:creationId xmlns:a16="http://schemas.microsoft.com/office/drawing/2014/main" id="{D10705F8-414A-3F84-A603-B00D35689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5" r="27192" b="-3"/>
          <a:stretch>
            <a:fillRect/>
          </a:stretch>
        </p:blipFill>
        <p:spPr>
          <a:xfrm>
            <a:off x="5477774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82A13-6627-0414-9421-78CF9ABA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Success Metrics</a:t>
            </a: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7" name="Graphic 6" descr="Target">
            <a:extLst>
              <a:ext uri="{FF2B5EF4-FFF2-40B4-BE49-F238E27FC236}">
                <a16:creationId xmlns:a16="http://schemas.microsoft.com/office/drawing/2014/main" id="{F5698E2C-F73B-6F1E-8A84-D1AF1B696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A16F-3FE4-B051-40F8-DB2014C8B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Accuracy: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at least 85% detection rate.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Speed: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real-time detection (under 1 second per frame).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Precision: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few false alarms.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Reliability: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works in different lighting conditions.</a:t>
            </a: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6864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1A5AE-617E-CD83-9EDC-1FE210A2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Week-by-Week Plan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FD5C5-707E-B3A3-5A9F-099C830F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Week 1:</a:t>
            </a:r>
            <a:r>
              <a:rPr lang="en-US" sz="2000">
                <a:ea typeface="+mn-lt"/>
                <a:cs typeface="+mn-lt"/>
              </a:rPr>
              <a:t> Research and gather dataset.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Week 2:</a:t>
            </a:r>
            <a:r>
              <a:rPr lang="en-US" sz="2000">
                <a:ea typeface="+mn-lt"/>
                <a:cs typeface="+mn-lt"/>
              </a:rPr>
              <a:t> Set up YOLOv8 in Colab and train on sample data.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Week 3:</a:t>
            </a:r>
            <a:r>
              <a:rPr lang="en-US" sz="2000">
                <a:ea typeface="+mn-lt"/>
                <a:cs typeface="+mn-lt"/>
              </a:rPr>
              <a:t> Evaluate results and test images.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Week 4:</a:t>
            </a:r>
            <a:r>
              <a:rPr lang="en-US" sz="2000">
                <a:ea typeface="+mn-lt"/>
                <a:cs typeface="+mn-lt"/>
              </a:rPr>
              <a:t> Prepare slides, GitHub repo, and finalize project report.</a:t>
            </a:r>
            <a:endParaRPr lang="en-US" sz="2000"/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D299A6CA-A8B3-E1F4-F67E-16D9D800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98" r="15689" b="-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1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6D6EAF-BBAB-384F-C13C-1603D582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Challenges and Backup Plan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1C4D2-1CE9-1CA5-3AD6-30295D69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Challenges:</a:t>
            </a: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Small dataset or low accuracy.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Slow detection on low-end hardware.</a:t>
            </a:r>
          </a:p>
          <a:p>
            <a:pPr marL="0" indent="0">
              <a:buNone/>
            </a:pPr>
            <a:r>
              <a:rPr lang="en-US" b="1"/>
              <a:t>Backup Plans: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Use pretrained YOLO model.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Reduce image resolution for faster results.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If data fails, use Kaggle dataset.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3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C76BD-530A-F40A-A47A-D3246261A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Resources Needed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9ACAD-BEC0-471B-EDA0-22CA5212F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Laptop with internet access.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Google Colab (free GPU).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Roboflow dataset access.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YOLOv8 framework (Ultralytics library).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GitHub for documentation.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3022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412</Words>
  <Application>Microsoft Macintosh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Smart Helmet Detector: Detecting if construction workers wear helmets using AI.</vt:lpstr>
      <vt:lpstr>Problem</vt:lpstr>
      <vt:lpstr>Proposed Solution</vt:lpstr>
      <vt:lpstr>Technical Approach</vt:lpstr>
      <vt:lpstr>Data Plan</vt:lpstr>
      <vt:lpstr>Slide 6: System Diagram</vt:lpstr>
      <vt:lpstr>Success Metrics</vt:lpstr>
      <vt:lpstr>Week-by-Week Plan</vt:lpstr>
      <vt:lpstr>Challenges and Backup Plan</vt:lpstr>
      <vt:lpstr>Resources Needed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koffi.viglo-W214411635</cp:lastModifiedBy>
  <cp:revision>120</cp:revision>
  <dcterms:created xsi:type="dcterms:W3CDTF">2025-10-30T14:31:59Z</dcterms:created>
  <dcterms:modified xsi:type="dcterms:W3CDTF">2025-10-30T22:03:33Z</dcterms:modified>
</cp:coreProperties>
</file>